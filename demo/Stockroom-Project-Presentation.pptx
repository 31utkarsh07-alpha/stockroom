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README.md; evidence/application-dashboard.png. All metrics and screenshots are from this repository's README and evidence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README.md, “What the application does”; evidence/application-dashboard.png. All metrics and screenshots are from this repository's README and evidence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README.md, “Architecture” and “Local Kubernetes deployment”. All metrics and screenshots are from this repository's README and evidence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README.md, “What the application does” and “Run tests”; evidence/pytest-passing.png. All metrics and screenshots are from this repository's README and evidence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README.md, “CI/CD and image security”; evidence/github-actions-green.png. All metrics and screenshots are from this repository's README and evidence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README.md, “CI/CD and image security”; evidence/trivy-backend-scan.png, evidence/trivy-frontend-scan.png, evidence/ghcr-backend-sha-tag.png. All metrics and screenshots are from this repository's README and evidence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README.md, “Local Kubernetes deployment”; evidence/k8s-pods-services.png and evidence/helm-release.png. All metrics and screenshots are from this repository's README and evidence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README.md, “Backend autoscaling”; evidence/hpa-scaling-up.png and evidence/hpa-scaled-down.png. All metrics and screenshots are from this repository's README and evidence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README.md, “Observability with Prometheus and Grafana”; evidence/grafana-dashboard.png and evidence/prometheus-targets.png. All metrics and screenshots are from this repository's README and evidence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README.md, “Rubric and evidence” and “Final student project minimum requirements audit”. All metrics and screenshots are from this repository's README and evidence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README.md; evidence/export-csv.png. All metrics and screenshots are from this repository's README and evidence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10160">
            <a:solidFill>
              <a:srgbClr val="303A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4710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STOCKROOM  /  PROJECT SHOWCASE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8B3C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8B3C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7367F0"/>
          </a:solidFill>
          <a:ln w="12700">
            <a:solidFill>
              <a:srgbClr val="7367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" y="658368"/>
            <a:ext cx="2176272" cy="292608"/>
          </a:xfrm>
          <a:prstGeom prst="roundRect">
            <a:avLst>
              <a:gd name="adj" fmla="val 37500"/>
            </a:avLst>
          </a:prstGeom>
          <a:solidFill>
            <a:srgbClr val="1B2440"/>
          </a:solidFill>
          <a:ln w="10160">
            <a:solidFill>
              <a:srgbClr val="1B24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66751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STUDENT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94944" y="1335024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Stockroom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13232" y="2221992"/>
            <a:ext cx="4754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management,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with a DevOps pipeline.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full-stack CRUD application with automated testing, secure image delivery, and local Kubernetes operations.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4892040"/>
            <a:ext cx="786384" cy="292608"/>
          </a:xfrm>
          <a:prstGeom prst="roundRect">
            <a:avLst>
              <a:gd name="adj" fmla="val 37500"/>
            </a:avLst>
          </a:prstGeom>
          <a:solidFill>
            <a:srgbClr val="1B2440"/>
          </a:solidFill>
          <a:ln w="10160">
            <a:solidFill>
              <a:srgbClr val="1B24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490118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27632" y="4892040"/>
            <a:ext cx="896112" cy="292608"/>
          </a:xfrm>
          <a:prstGeom prst="roundRect">
            <a:avLst>
              <a:gd name="adj" fmla="val 37500"/>
            </a:avLst>
          </a:prstGeom>
          <a:solidFill>
            <a:srgbClr val="1B2440"/>
          </a:solidFill>
          <a:ln w="10160">
            <a:solidFill>
              <a:srgbClr val="1B24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00784" y="490118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24328" y="4892040"/>
            <a:ext cx="1207008" cy="292608"/>
          </a:xfrm>
          <a:prstGeom prst="roundRect">
            <a:avLst>
              <a:gd name="adj" fmla="val 37500"/>
            </a:avLst>
          </a:prstGeom>
          <a:solidFill>
            <a:srgbClr val="1B2440"/>
          </a:solidFill>
          <a:ln w="10160">
            <a:solidFill>
              <a:srgbClr val="1B24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4901184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941064" y="4892040"/>
            <a:ext cx="1252728" cy="292608"/>
          </a:xfrm>
          <a:prstGeom prst="roundRect">
            <a:avLst>
              <a:gd name="adj" fmla="val 37500"/>
            </a:avLst>
          </a:prstGeom>
          <a:solidFill>
            <a:srgbClr val="1B2440"/>
          </a:solidFill>
          <a:ln w="10160">
            <a:solidFill>
              <a:srgbClr val="1B24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14216" y="4901184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 + Helm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15584" y="621792"/>
            <a:ext cx="5715000" cy="5321808"/>
          </a:xfrm>
          <a:prstGeom prst="roundRect">
            <a:avLst>
              <a:gd name="adj" fmla="val 2062"/>
            </a:avLst>
          </a:prstGeom>
          <a:solidFill>
            <a:srgbClr val="1B2440"/>
          </a:solidFill>
          <a:ln w="10160">
            <a:solidFill>
              <a:srgbClr val="303A54"/>
            </a:solidFill>
            <a:prstDash val="solid"/>
          </a:ln>
        </p:spPr>
      </p:sp>
      <p:pic>
        <p:nvPicPr>
          <p:cNvPr id="18" name="Image 0" descr="/Users/utkarshpathak3107/Desktop/Stockroom/evidence/application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5312" y="1716279"/>
            <a:ext cx="5495544" cy="313283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080760" y="605332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teams that need a clear view of stock.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8B3C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1089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PRODUCT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inventory workspace made for daily operations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19786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dashboard keeps catalog changes, stock risk, and inventory value in one view.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00784"/>
            <a:ext cx="6629400" cy="4251960"/>
          </a:xfrm>
          <a:prstGeom prst="roundRect">
            <a:avLst>
              <a:gd name="adj" fmla="val 2581"/>
            </a:avLst>
          </a:prstGeom>
          <a:solidFill>
            <a:srgbClr val="1B2440"/>
          </a:solidFill>
          <a:ln w="10160">
            <a:solidFill>
              <a:srgbClr val="303A54"/>
            </a:solidFill>
            <a:prstDash val="solid"/>
          </a:ln>
        </p:spPr>
      </p:sp>
      <p:pic>
        <p:nvPicPr>
          <p:cNvPr id="6" name="Image 0" descr="/Users/utkarshpathak3107/Desktop/Stockroom/evidence/application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99712"/>
            <a:ext cx="6409944" cy="36541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35240" y="18013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WORKFLOWS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662672" y="2377440"/>
            <a:ext cx="100584" cy="100584"/>
          </a:xfrm>
          <a:prstGeom prst="ellipse">
            <a:avLst/>
          </a:prstGeom>
          <a:solidFill>
            <a:srgbClr val="55D6BE"/>
          </a:solidFill>
          <a:ln w="12700">
            <a:solidFill>
              <a:srgbClr val="55D6B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0" y="2267712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and maintain product records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662672" y="2962656"/>
            <a:ext cx="100584" cy="100584"/>
          </a:xfrm>
          <a:prstGeom prst="ellipse">
            <a:avLst/>
          </a:prstGeom>
          <a:solidFill>
            <a:srgbClr val="55D6BE"/>
          </a:solidFill>
          <a:ln w="12700">
            <a:solidFill>
              <a:srgbClr val="55D6B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0" y="2852928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Search, filter, and review the catalog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662672" y="3547872"/>
            <a:ext cx="100584" cy="100584"/>
          </a:xfrm>
          <a:prstGeom prst="ellipse">
            <a:avLst/>
          </a:prstGeom>
          <a:solidFill>
            <a:srgbClr val="55D6BE"/>
          </a:solidFill>
          <a:ln w="12700">
            <a:solidFill>
              <a:srgbClr val="55D6B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63840" y="3438144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quantities, pricing, and low-stock items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662672" y="4133088"/>
            <a:ext cx="100584" cy="100584"/>
          </a:xfrm>
          <a:prstGeom prst="ellipse">
            <a:avLst/>
          </a:prstGeom>
          <a:solidFill>
            <a:srgbClr val="55D6BE"/>
          </a:solidFill>
          <a:ln w="12700">
            <a:solidFill>
              <a:srgbClr val="55D6B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63840" y="4023360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inventory data as CSV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635240" y="4736592"/>
            <a:ext cx="3749040" cy="987552"/>
          </a:xfrm>
          <a:prstGeom prst="roundRect">
            <a:avLst>
              <a:gd name="adj" fmla="val 11111"/>
            </a:avLst>
          </a:prstGeom>
          <a:solidFill>
            <a:srgbClr val="1B2440"/>
          </a:solidFill>
          <a:ln w="10160">
            <a:solidFill>
              <a:srgbClr val="303A5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45552" y="491032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70" kern="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FRONTEND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845552" y="51846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Vite, served through Nginx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8B3C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1089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local stack connects the app, delivery pipeline, and monitoring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19786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 and the image pipeline run locally or on GitHub Actions; no AWS resources are used.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94944" y="1828800"/>
            <a:ext cx="1719072" cy="932688"/>
          </a:xfrm>
          <a:prstGeom prst="roundRect">
            <a:avLst>
              <a:gd name="adj" fmla="val 11765"/>
            </a:avLst>
          </a:prstGeom>
          <a:solidFill>
            <a:srgbClr val="141B2D"/>
          </a:solidFill>
          <a:ln w="10160">
            <a:solidFill>
              <a:srgbClr val="303A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" y="2011680"/>
            <a:ext cx="1481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3816" y="235915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32304" y="2295144"/>
            <a:ext cx="438912" cy="0"/>
          </a:xfrm>
          <a:prstGeom prst="line">
            <a:avLst/>
          </a:prstGeom>
          <a:noFill/>
          <a:ln w="21590">
            <a:solidFill>
              <a:srgbClr val="7367F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44368" y="1828800"/>
            <a:ext cx="1719072" cy="932688"/>
          </a:xfrm>
          <a:prstGeom prst="roundRect">
            <a:avLst>
              <a:gd name="adj" fmla="val 11765"/>
            </a:avLst>
          </a:prstGeom>
          <a:solidFill>
            <a:srgbClr val="141B2D"/>
          </a:solidFill>
          <a:ln w="10160">
            <a:solidFill>
              <a:srgbClr val="303A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2011680"/>
            <a:ext cx="1481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63240" y="235915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+ build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81728" y="2295144"/>
            <a:ext cx="438912" cy="0"/>
          </a:xfrm>
          <a:prstGeom prst="line">
            <a:avLst/>
          </a:prstGeom>
          <a:noFill/>
          <a:ln w="21590">
            <a:solidFill>
              <a:srgbClr val="7367F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93792" y="1828800"/>
            <a:ext cx="1719072" cy="932688"/>
          </a:xfrm>
          <a:prstGeom prst="roundRect">
            <a:avLst>
              <a:gd name="adj" fmla="val 11765"/>
            </a:avLst>
          </a:prstGeom>
          <a:solidFill>
            <a:srgbClr val="141B2D"/>
          </a:solidFill>
          <a:ln w="10160">
            <a:solidFill>
              <a:srgbClr val="303A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12664" y="2011680"/>
            <a:ext cx="1481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12664" y="235915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images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31152" y="2295144"/>
            <a:ext cx="438912" cy="0"/>
          </a:xfrm>
          <a:prstGeom prst="line">
            <a:avLst/>
          </a:prstGeom>
          <a:noFill/>
          <a:ln w="21590">
            <a:solidFill>
              <a:srgbClr val="7367F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43216" y="1828800"/>
            <a:ext cx="1719072" cy="932688"/>
          </a:xfrm>
          <a:prstGeom prst="roundRect">
            <a:avLst>
              <a:gd name="adj" fmla="val 11765"/>
            </a:avLst>
          </a:prstGeom>
          <a:solidFill>
            <a:srgbClr val="141B2D"/>
          </a:solidFill>
          <a:ln w="10160">
            <a:solidFill>
              <a:srgbClr val="303A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62088" y="2011680"/>
            <a:ext cx="1481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GHCR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562088" y="235915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 tags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80576" y="2295144"/>
            <a:ext cx="438912" cy="0"/>
          </a:xfrm>
          <a:prstGeom prst="line">
            <a:avLst/>
          </a:prstGeom>
          <a:noFill/>
          <a:ln w="21590">
            <a:solidFill>
              <a:srgbClr val="7367F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692640" y="1828800"/>
            <a:ext cx="1719072" cy="932688"/>
          </a:xfrm>
          <a:prstGeom prst="roundRect">
            <a:avLst>
              <a:gd name="adj" fmla="val 11765"/>
            </a:avLst>
          </a:prstGeom>
          <a:solidFill>
            <a:srgbClr val="24204B"/>
          </a:solidFill>
          <a:ln w="10160">
            <a:solidFill>
              <a:srgbClr val="7367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11512" y="2011680"/>
            <a:ext cx="1481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 + Helm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811512" y="235915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rollout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4944" y="31729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PATH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4944" y="3566160"/>
            <a:ext cx="1719072" cy="841248"/>
          </a:xfrm>
          <a:prstGeom prst="roundRect">
            <a:avLst>
              <a:gd name="adj" fmla="val 13043"/>
            </a:avLst>
          </a:prstGeom>
          <a:solidFill>
            <a:srgbClr val="141B2D"/>
          </a:solidFill>
          <a:ln w="10160">
            <a:solidFill>
              <a:srgbClr val="303A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" y="3749040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86384" y="4059936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441448" y="3977640"/>
            <a:ext cx="438912" cy="0"/>
          </a:xfrm>
          <a:prstGeom prst="line">
            <a:avLst/>
          </a:prstGeom>
          <a:noFill/>
          <a:ln w="20320">
            <a:solidFill>
              <a:srgbClr val="55D6BE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944368" y="3566160"/>
            <a:ext cx="1719072" cy="841248"/>
          </a:xfrm>
          <a:prstGeom prst="roundRect">
            <a:avLst>
              <a:gd name="adj" fmla="val 13043"/>
            </a:avLst>
          </a:prstGeom>
          <a:solidFill>
            <a:srgbClr val="141B2D"/>
          </a:solidFill>
          <a:ln w="10160">
            <a:solidFill>
              <a:srgbClr val="303A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35808" y="3749040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Traefik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035808" y="4059936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90872" y="3977640"/>
            <a:ext cx="438912" cy="0"/>
          </a:xfrm>
          <a:prstGeom prst="line">
            <a:avLst/>
          </a:prstGeom>
          <a:noFill/>
          <a:ln w="20320">
            <a:solidFill>
              <a:srgbClr val="55D6BE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193792" y="3566160"/>
            <a:ext cx="1719072" cy="841248"/>
          </a:xfrm>
          <a:prstGeom prst="roundRect">
            <a:avLst>
              <a:gd name="adj" fmla="val 13043"/>
            </a:avLst>
          </a:prstGeom>
          <a:solidFill>
            <a:srgbClr val="141B2D"/>
          </a:solidFill>
          <a:ln w="10160">
            <a:solidFill>
              <a:srgbClr val="303A5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85232" y="3749040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Nginx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285232" y="4059936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940296" y="3977640"/>
            <a:ext cx="438912" cy="0"/>
          </a:xfrm>
          <a:prstGeom prst="line">
            <a:avLst/>
          </a:prstGeom>
          <a:noFill/>
          <a:ln w="20320">
            <a:solidFill>
              <a:srgbClr val="55D6BE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443216" y="3566160"/>
            <a:ext cx="1719072" cy="841248"/>
          </a:xfrm>
          <a:prstGeom prst="roundRect">
            <a:avLst>
              <a:gd name="adj" fmla="val 13043"/>
            </a:avLst>
          </a:prstGeom>
          <a:solidFill>
            <a:srgbClr val="141B2D"/>
          </a:solidFill>
          <a:ln w="10160">
            <a:solidFill>
              <a:srgbClr val="303A5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34656" y="3749040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534656" y="4059936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189720" y="3977640"/>
            <a:ext cx="438912" cy="0"/>
          </a:xfrm>
          <a:prstGeom prst="line">
            <a:avLst/>
          </a:prstGeom>
          <a:noFill/>
          <a:ln w="20320">
            <a:solidFill>
              <a:srgbClr val="55D6BE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9692640" y="3566160"/>
            <a:ext cx="1719072" cy="841248"/>
          </a:xfrm>
          <a:prstGeom prst="roundRect">
            <a:avLst>
              <a:gd name="adj" fmla="val 13043"/>
            </a:avLst>
          </a:prstGeom>
          <a:solidFill>
            <a:srgbClr val="141B2D"/>
          </a:solidFill>
          <a:ln w="10160">
            <a:solidFill>
              <a:srgbClr val="303A5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784080" y="3749040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784080" y="4059936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944368" y="5029200"/>
            <a:ext cx="2240280" cy="786384"/>
          </a:xfrm>
          <a:prstGeom prst="roundRect">
            <a:avLst>
              <a:gd name="adj" fmla="val 13953"/>
            </a:avLst>
          </a:prstGeom>
          <a:solidFill>
            <a:srgbClr val="1B2440"/>
          </a:solidFill>
          <a:ln w="10160">
            <a:solidFill>
              <a:srgbClr val="303A5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99816" y="52120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 Pod Autoscaler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099816" y="5486400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FastAPI by CPU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583680" y="5029200"/>
            <a:ext cx="2240280" cy="786384"/>
          </a:xfrm>
          <a:prstGeom prst="roundRect">
            <a:avLst>
              <a:gd name="adj" fmla="val 13953"/>
            </a:avLst>
          </a:prstGeom>
          <a:solidFill>
            <a:srgbClr val="1B2440"/>
          </a:solidFill>
          <a:ln w="10160">
            <a:solidFill>
              <a:srgbClr val="303A5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48272" y="521208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+ Grafana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748272" y="5486400"/>
            <a:ext cx="19019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+ visualize metrics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069080" y="5029200"/>
            <a:ext cx="4251960" cy="-621792"/>
          </a:xfrm>
          <a:prstGeom prst="line">
            <a:avLst/>
          </a:prstGeom>
          <a:noFill/>
          <a:ln w="15240">
            <a:solidFill>
              <a:srgbClr val="7367F0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7699248" y="5029200"/>
            <a:ext cx="621792" cy="-621792"/>
          </a:xfrm>
          <a:prstGeom prst="line">
            <a:avLst/>
          </a:prstGeom>
          <a:noFill/>
          <a:ln w="15240">
            <a:solidFill>
              <a:srgbClr val="55D6BE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8B3C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1089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BACKEND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REST API keeps the CRUD contract clear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19786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FastAPI, PostgreSQL, SQLAlchemy, and Alembic support the inventory lifecycle.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76656" y="1737360"/>
            <a:ext cx="6400800" cy="4297680"/>
          </a:xfrm>
          <a:prstGeom prst="roundRect">
            <a:avLst>
              <a:gd name="adj" fmla="val 2553"/>
            </a:avLst>
          </a:prstGeom>
          <a:solidFill>
            <a:srgbClr val="141B2D"/>
          </a:solidFill>
          <a:ln w="10160">
            <a:solidFill>
              <a:srgbClr val="303A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4767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39696" y="1947672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504688" y="194767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23591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5D6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39696" y="2359152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/api/products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04688" y="235915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2807208"/>
            <a:ext cx="5897880" cy="0"/>
          </a:xfrm>
          <a:prstGeom prst="line">
            <a:avLst/>
          </a:prstGeom>
          <a:noFill/>
          <a:ln w="7620">
            <a:solidFill>
              <a:srgbClr val="303A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916936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5D6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39696" y="2916936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/api/products/{id}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04688" y="291693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3364992"/>
            <a:ext cx="5897880" cy="0"/>
          </a:xfrm>
          <a:prstGeom prst="line">
            <a:avLst/>
          </a:prstGeom>
          <a:noFill/>
          <a:ln w="7620">
            <a:solidFill>
              <a:srgbClr val="303A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474720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CCB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39696" y="3474720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/api/products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04688" y="34747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3922776"/>
            <a:ext cx="5897880" cy="0"/>
          </a:xfrm>
          <a:prstGeom prst="line">
            <a:avLst/>
          </a:prstGeom>
          <a:noFill/>
          <a:ln w="7620">
            <a:solidFill>
              <a:srgbClr val="303A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032504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39696" y="4032504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/api/products/{id}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04688" y="403250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14400" y="4480560"/>
            <a:ext cx="5897880" cy="0"/>
          </a:xfrm>
          <a:prstGeom prst="line">
            <a:avLst/>
          </a:prstGeom>
          <a:noFill/>
          <a:ln w="7620">
            <a:solidFill>
              <a:srgbClr val="303A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59028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6C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39696" y="4590288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/api/products/{id}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04688" y="45902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0" y="1737360"/>
            <a:ext cx="4169664" cy="2340864"/>
          </a:xfrm>
          <a:prstGeom prst="roundRect">
            <a:avLst>
              <a:gd name="adj" fmla="val 4688"/>
            </a:avLst>
          </a:prstGeom>
          <a:solidFill>
            <a:srgbClr val="1B2440"/>
          </a:solidFill>
          <a:ln w="10160">
            <a:solidFill>
              <a:srgbClr val="303A54"/>
            </a:solidFill>
            <a:prstDash val="solid"/>
          </a:ln>
        </p:spPr>
      </p:sp>
      <p:pic>
        <p:nvPicPr>
          <p:cNvPr id="29" name="Image 0" descr="/Users/utkarshpathak3107/Desktop/Stockroom/evidence/pytest-pass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3083" y="1847088"/>
            <a:ext cx="3193898" cy="2121408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7370064" y="43616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90" kern="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CHECKS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370064" y="4681728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API tests cover product operations and metrics.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7370064" y="536752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use an isolated SQLite fixture; they do not depend on the local Postgres service.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8B3C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1089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CI/CD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main-branch change can produce a traceable release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19786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and the frontend build gate the image build, scan, and publish stage.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76656" y="1828800"/>
            <a:ext cx="1874520" cy="1115568"/>
          </a:xfrm>
          <a:prstGeom prst="roundRect">
            <a:avLst>
              <a:gd name="adj" fmla="val 9836"/>
            </a:avLst>
          </a:prstGeom>
          <a:solidFill>
            <a:srgbClr val="141B2D"/>
          </a:solidFill>
          <a:ln w="10160">
            <a:solidFill>
              <a:srgbClr val="303A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" y="198424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5D6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13816" y="2267712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3816" y="260604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main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2386584"/>
            <a:ext cx="347472" cy="0"/>
          </a:xfrm>
          <a:prstGeom prst="line">
            <a:avLst/>
          </a:prstGeom>
          <a:noFill/>
          <a:ln w="20320">
            <a:solidFill>
              <a:srgbClr val="7367F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53512" y="1828800"/>
            <a:ext cx="1874520" cy="1115568"/>
          </a:xfrm>
          <a:prstGeom prst="roundRect">
            <a:avLst>
              <a:gd name="adj" fmla="val 9836"/>
            </a:avLst>
          </a:prstGeom>
          <a:solidFill>
            <a:srgbClr val="141B2D"/>
          </a:solidFill>
          <a:ln w="10160">
            <a:solidFill>
              <a:srgbClr val="303A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90672" y="198424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5D6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90672" y="2267712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90672" y="260604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 + Vite build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37176" y="2386584"/>
            <a:ext cx="347472" cy="0"/>
          </a:xfrm>
          <a:prstGeom prst="line">
            <a:avLst/>
          </a:prstGeom>
          <a:noFill/>
          <a:ln w="20320">
            <a:solidFill>
              <a:srgbClr val="7367F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230368" y="1828800"/>
            <a:ext cx="1874520" cy="1115568"/>
          </a:xfrm>
          <a:prstGeom prst="roundRect">
            <a:avLst>
              <a:gd name="adj" fmla="val 9836"/>
            </a:avLst>
          </a:prstGeom>
          <a:solidFill>
            <a:srgbClr val="141B2D"/>
          </a:solidFill>
          <a:ln w="10160">
            <a:solidFill>
              <a:srgbClr val="303A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67528" y="198424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5D6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67528" y="2267712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67528" y="260604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+ frontend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114032" y="2386584"/>
            <a:ext cx="347472" cy="0"/>
          </a:xfrm>
          <a:prstGeom prst="line">
            <a:avLst/>
          </a:prstGeom>
          <a:noFill/>
          <a:ln w="20320">
            <a:solidFill>
              <a:srgbClr val="7367F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507224" y="1828800"/>
            <a:ext cx="1874520" cy="1115568"/>
          </a:xfrm>
          <a:prstGeom prst="roundRect">
            <a:avLst>
              <a:gd name="adj" fmla="val 9836"/>
            </a:avLst>
          </a:prstGeom>
          <a:solidFill>
            <a:srgbClr val="141B2D"/>
          </a:solidFill>
          <a:ln w="10160">
            <a:solidFill>
              <a:srgbClr val="303A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44384" y="198424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5D6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644384" y="2267712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644384" y="260604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390888" y="2386584"/>
            <a:ext cx="347472" cy="0"/>
          </a:xfrm>
          <a:prstGeom prst="line">
            <a:avLst/>
          </a:prstGeom>
          <a:noFill/>
          <a:ln w="20320">
            <a:solidFill>
              <a:srgbClr val="7367F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784080" y="1828800"/>
            <a:ext cx="1874520" cy="1115568"/>
          </a:xfrm>
          <a:prstGeom prst="roundRect">
            <a:avLst>
              <a:gd name="adj" fmla="val 9836"/>
            </a:avLst>
          </a:prstGeom>
          <a:solidFill>
            <a:srgbClr val="24204B"/>
          </a:solidFill>
          <a:ln w="10160">
            <a:solidFill>
              <a:srgbClr val="7367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21240" y="198424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5D6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921240" y="2267712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921240" y="260604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GHCR + source SHA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4944" y="3310128"/>
            <a:ext cx="6720840" cy="2468880"/>
          </a:xfrm>
          <a:prstGeom prst="roundRect">
            <a:avLst>
              <a:gd name="adj" fmla="val 4444"/>
            </a:avLst>
          </a:prstGeom>
          <a:solidFill>
            <a:srgbClr val="1B2440"/>
          </a:solidFill>
          <a:ln w="10160">
            <a:solidFill>
              <a:srgbClr val="303A54"/>
            </a:solidFill>
            <a:prstDash val="solid"/>
          </a:ln>
        </p:spPr>
      </p:sp>
      <p:pic>
        <p:nvPicPr>
          <p:cNvPr id="30" name="Image 0" descr="/Users/utkarshpathak3107/Desktop/Stockroom/evidence/github-actions-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3535" y="3419856"/>
            <a:ext cx="3963659" cy="2249424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7708392" y="3310128"/>
            <a:ext cx="3730752" cy="2468880"/>
          </a:xfrm>
          <a:prstGeom prst="roundRect">
            <a:avLst>
              <a:gd name="adj" fmla="val 4444"/>
            </a:avLst>
          </a:prstGeom>
          <a:solidFill>
            <a:srgbClr val="141B2D"/>
          </a:solidFill>
          <a:ln w="10160">
            <a:solidFill>
              <a:srgbClr val="303A5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973568" y="3602736"/>
            <a:ext cx="3154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90" kern="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TRACEABILITY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973568" y="4005072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source revision, two images</a:t>
            </a:r>
            <a:endParaRPr lang="en-US" sz="1900" dirty="0"/>
          </a:p>
        </p:txBody>
      </p:sp>
      <p:sp>
        <p:nvSpPr>
          <p:cNvPr id="34" name="Shape 31"/>
          <p:cNvSpPr/>
          <p:nvPr/>
        </p:nvSpPr>
        <p:spPr>
          <a:xfrm>
            <a:off x="7991856" y="4700016"/>
            <a:ext cx="100584" cy="100584"/>
          </a:xfrm>
          <a:prstGeom prst="ellipse">
            <a:avLst/>
          </a:prstGeom>
          <a:solidFill>
            <a:srgbClr val="55D6BE"/>
          </a:solidFill>
          <a:ln w="12700">
            <a:solidFill>
              <a:srgbClr val="55D6B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193024" y="45902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and frontend images published to GHCR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7991856" y="5193792"/>
            <a:ext cx="100584" cy="100584"/>
          </a:xfrm>
          <a:prstGeom prst="ellipse">
            <a:avLst/>
          </a:prstGeom>
          <a:solidFill>
            <a:srgbClr val="55D6BE"/>
          </a:solidFill>
          <a:ln w="12700">
            <a:solidFill>
              <a:srgbClr val="55D6B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193024" y="508406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commit SHA used as each image tag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8B3C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1089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SECURITY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scanning is part of the release gate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19786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Trivy checks both application images before the pipeline publishes them.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773936"/>
            <a:ext cx="6720840" cy="3200400"/>
          </a:xfrm>
          <a:prstGeom prst="roundRect">
            <a:avLst>
              <a:gd name="adj" fmla="val 3429"/>
            </a:avLst>
          </a:prstGeom>
          <a:solidFill>
            <a:srgbClr val="1B2440"/>
          </a:solidFill>
          <a:ln w="10160">
            <a:solidFill>
              <a:srgbClr val="303A54"/>
            </a:solidFill>
            <a:prstDash val="solid"/>
          </a:ln>
        </p:spPr>
      </p:sp>
      <p:pic>
        <p:nvPicPr>
          <p:cNvPr id="6" name="Image 0" descr="/Users/utkarshpathak3107/Desktop/Stockroom/evidence/trivy-backend-sc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399831"/>
            <a:ext cx="6501384" cy="194861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35240" y="1773936"/>
            <a:ext cx="3840480" cy="1865376"/>
          </a:xfrm>
          <a:prstGeom prst="roundRect">
            <a:avLst>
              <a:gd name="adj" fmla="val 5882"/>
            </a:avLst>
          </a:prstGeom>
          <a:solidFill>
            <a:srgbClr val="1B2440"/>
          </a:solidFill>
          <a:ln w="10160">
            <a:solidFill>
              <a:srgbClr val="303A54"/>
            </a:solidFill>
            <a:prstDash val="solid"/>
          </a:ln>
        </p:spPr>
      </p:sp>
      <p:pic>
        <p:nvPicPr>
          <p:cNvPr id="8" name="Image 1" descr="/Users/utkarshpathak3107/Desktop/Stockroom/evidence/trivy-frontend-sc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4968" y="2182130"/>
            <a:ext cx="3621024" cy="1048987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635240" y="3877056"/>
            <a:ext cx="3840480" cy="1865376"/>
          </a:xfrm>
          <a:prstGeom prst="roundRect">
            <a:avLst>
              <a:gd name="adj" fmla="val 5882"/>
            </a:avLst>
          </a:prstGeom>
          <a:solidFill>
            <a:srgbClr val="1B2440"/>
          </a:solidFill>
          <a:ln w="10160">
            <a:solidFill>
              <a:srgbClr val="303A54"/>
            </a:solidFill>
            <a:prstDash val="solid"/>
          </a:ln>
        </p:spPr>
      </p:sp>
      <p:pic>
        <p:nvPicPr>
          <p:cNvPr id="10" name="Image 2" descr="/Users/utkarshpathak3107/Desktop/Stockroom/evidence/ghcr-backend-sha-t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968" y="4038646"/>
            <a:ext cx="3621024" cy="154219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9808" y="52852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828800" y="5212080"/>
            <a:ext cx="5230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HIGH and CRITICAL findings block publishing; image tags retain source-SHA traceability.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8B3C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1089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KUBERNETES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 and Helm make the deployment reproducible without cloud spend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19786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Traefik routes app traffic; PostgreSQL and the application run inside the local cluster.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755648"/>
            <a:ext cx="5669280" cy="2880360"/>
          </a:xfrm>
          <a:prstGeom prst="roundRect">
            <a:avLst>
              <a:gd name="adj" fmla="val 3810"/>
            </a:avLst>
          </a:prstGeom>
          <a:solidFill>
            <a:srgbClr val="1B2440"/>
          </a:solidFill>
          <a:ln w="10160">
            <a:solidFill>
              <a:srgbClr val="303A54"/>
            </a:solidFill>
            <a:prstDash val="solid"/>
          </a:ln>
        </p:spPr>
      </p:sp>
      <p:pic>
        <p:nvPicPr>
          <p:cNvPr id="6" name="Image 0" descr="/Users/utkarshpathak3107/Desktop/Stockroom/evidence/k8s-pods-servi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737644"/>
            <a:ext cx="5449824" cy="91636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83680" y="1755648"/>
            <a:ext cx="4901184" cy="2880360"/>
          </a:xfrm>
          <a:prstGeom prst="roundRect">
            <a:avLst>
              <a:gd name="adj" fmla="val 3810"/>
            </a:avLst>
          </a:prstGeom>
          <a:solidFill>
            <a:srgbClr val="1B2440"/>
          </a:solidFill>
          <a:ln w="10160">
            <a:solidFill>
              <a:srgbClr val="303A54"/>
            </a:solidFill>
            <a:prstDash val="solid"/>
          </a:ln>
        </p:spPr>
      </p:sp>
      <p:pic>
        <p:nvPicPr>
          <p:cNvPr id="8" name="Image 1" descr="/Users/utkarshpathak3107/Desktop/Stockroom/evidence/helm-rele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2217653"/>
            <a:ext cx="4681728" cy="1956349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49808" y="4956048"/>
            <a:ext cx="2523744" cy="813816"/>
          </a:xfrm>
          <a:prstGeom prst="roundRect">
            <a:avLst>
              <a:gd name="adj" fmla="val 13483"/>
            </a:avLst>
          </a:prstGeom>
          <a:solidFill>
            <a:srgbClr val="141B2D"/>
          </a:solidFill>
          <a:ln w="10160">
            <a:solidFill>
              <a:srgbClr val="303A5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86968" y="5093208"/>
            <a:ext cx="22494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70" kern="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CLUSTER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886968" y="5349240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 on Docker Desktop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538728" y="4956048"/>
            <a:ext cx="2523744" cy="813816"/>
          </a:xfrm>
          <a:prstGeom prst="roundRect">
            <a:avLst>
              <a:gd name="adj" fmla="val 13483"/>
            </a:avLst>
          </a:prstGeom>
          <a:solidFill>
            <a:srgbClr val="141B2D"/>
          </a:solidFill>
          <a:ln w="10160">
            <a:solidFill>
              <a:srgbClr val="303A5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675888" y="5093208"/>
            <a:ext cx="22494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70" kern="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MANAGER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3675888" y="5349240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Stockroom Helm chart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327648" y="4956048"/>
            <a:ext cx="2523744" cy="813816"/>
          </a:xfrm>
          <a:prstGeom prst="roundRect">
            <a:avLst>
              <a:gd name="adj" fmla="val 13483"/>
            </a:avLst>
          </a:prstGeom>
          <a:solidFill>
            <a:srgbClr val="141B2D"/>
          </a:solidFill>
          <a:ln w="10160">
            <a:solidFill>
              <a:srgbClr val="303A5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64808" y="5093208"/>
            <a:ext cx="22494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70" kern="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464808" y="5349240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Traefik Ingress at 127.0.0.1:8080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9116568" y="4956048"/>
            <a:ext cx="2523744" cy="813816"/>
          </a:xfrm>
          <a:prstGeom prst="roundRect">
            <a:avLst>
              <a:gd name="adj" fmla="val 13483"/>
            </a:avLst>
          </a:prstGeom>
          <a:solidFill>
            <a:srgbClr val="141B2D"/>
          </a:solidFill>
          <a:ln w="10160">
            <a:solidFill>
              <a:srgbClr val="303A5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253728" y="5093208"/>
            <a:ext cx="22494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70" kern="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SCOPE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9253728" y="5349240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AWS resources created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8B3C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1089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AUTOSCALING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backend scales from two to five pods on CPU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19786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Server feeds an autoscaling/v2 HPA targeting average CPU utilization.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76656" y="1783080"/>
            <a:ext cx="2606040" cy="1225296"/>
          </a:xfrm>
          <a:prstGeom prst="roundRect">
            <a:avLst>
              <a:gd name="adj" fmla="val 8955"/>
            </a:avLst>
          </a:prstGeom>
          <a:solidFill>
            <a:srgbClr val="141B2D"/>
          </a:solidFill>
          <a:ln w="10160">
            <a:solidFill>
              <a:srgbClr val="303A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1911096"/>
            <a:ext cx="41148" cy="969264"/>
          </a:xfrm>
          <a:prstGeom prst="rect">
            <a:avLst/>
          </a:prstGeom>
          <a:solidFill>
            <a:srgbClr val="55D6BE"/>
          </a:solidFill>
          <a:ln w="12700">
            <a:solidFill>
              <a:srgbClr val="55D6B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947672"/>
            <a:ext cx="2258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TARGET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9536" y="2221992"/>
            <a:ext cx="2258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59536" y="2624328"/>
            <a:ext cx="2258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requested CPU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01568" y="1783080"/>
            <a:ext cx="2606040" cy="1225296"/>
          </a:xfrm>
          <a:prstGeom prst="roundRect">
            <a:avLst>
              <a:gd name="adj" fmla="val 8955"/>
            </a:avLst>
          </a:prstGeom>
          <a:solidFill>
            <a:srgbClr val="141B2D"/>
          </a:solidFill>
          <a:ln w="10160">
            <a:solidFill>
              <a:srgbClr val="303A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19856" y="1911096"/>
            <a:ext cx="41148" cy="969264"/>
          </a:xfrm>
          <a:prstGeom prst="rect">
            <a:avLst/>
          </a:prstGeom>
          <a:solidFill>
            <a:srgbClr val="7367F0"/>
          </a:solidFill>
          <a:ln w="12700">
            <a:solidFill>
              <a:srgbClr val="7367F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84448" y="1947672"/>
            <a:ext cx="2258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 FLOOR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84448" y="2221992"/>
            <a:ext cx="2258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584448" y="2624328"/>
            <a:ext cx="2258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replicas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783080"/>
            <a:ext cx="2606040" cy="1225296"/>
          </a:xfrm>
          <a:prstGeom prst="roundRect">
            <a:avLst>
              <a:gd name="adj" fmla="val 8955"/>
            </a:avLst>
          </a:prstGeom>
          <a:solidFill>
            <a:srgbClr val="141B2D"/>
          </a:solidFill>
          <a:ln w="10160">
            <a:solidFill>
              <a:srgbClr val="303A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44768" y="1911096"/>
            <a:ext cx="41148" cy="969264"/>
          </a:xfrm>
          <a:prstGeom prst="rect">
            <a:avLst/>
          </a:prstGeom>
          <a:solidFill>
            <a:srgbClr val="F6C56B"/>
          </a:solidFill>
          <a:ln w="12700">
            <a:solidFill>
              <a:srgbClr val="F6C56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947672"/>
            <a:ext cx="2258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 CEILING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09360" y="2221992"/>
            <a:ext cx="2258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309360" y="2624328"/>
            <a:ext cx="2258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replicas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851392" y="1783080"/>
            <a:ext cx="2606040" cy="1225296"/>
          </a:xfrm>
          <a:prstGeom prst="roundRect">
            <a:avLst>
              <a:gd name="adj" fmla="val 8955"/>
            </a:avLst>
          </a:prstGeom>
          <a:solidFill>
            <a:srgbClr val="141B2D"/>
          </a:solidFill>
          <a:ln w="10160">
            <a:solidFill>
              <a:srgbClr val="303A5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69680" y="1911096"/>
            <a:ext cx="41148" cy="969264"/>
          </a:xfrm>
          <a:prstGeom prst="rect">
            <a:avLst/>
          </a:prstGeom>
          <a:solidFill>
            <a:srgbClr val="3CCB91"/>
          </a:solidFill>
          <a:ln w="12700">
            <a:solidFill>
              <a:srgbClr val="3CCB91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34272" y="1947672"/>
            <a:ext cx="2258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REQUEST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034272" y="2221992"/>
            <a:ext cx="2258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100m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034272" y="2624328"/>
            <a:ext cx="2258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backend pod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325526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90" kern="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TEST OBSERVATION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9808" y="3557016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rose above target; the HPA increased desired replicas to five. After load removal, utilization fell and scale-down began.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49808" y="4983480"/>
            <a:ext cx="2423160" cy="292608"/>
          </a:xfrm>
          <a:prstGeom prst="roundRect">
            <a:avLst>
              <a:gd name="adj" fmla="val 37500"/>
            </a:avLst>
          </a:prstGeom>
          <a:solidFill>
            <a:srgbClr val="1B2440"/>
          </a:solidFill>
          <a:ln w="10160">
            <a:solidFill>
              <a:srgbClr val="1B24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992624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5D6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busybox → /api/products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10128" y="4983480"/>
            <a:ext cx="2267712" cy="292608"/>
          </a:xfrm>
          <a:prstGeom prst="roundRect">
            <a:avLst>
              <a:gd name="adj" fmla="val 37500"/>
            </a:avLst>
          </a:prstGeom>
          <a:solidFill>
            <a:srgbClr val="1B2440"/>
          </a:solidFill>
          <a:ln w="10160">
            <a:solidFill>
              <a:srgbClr val="1B24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499262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metrics-server → HPA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40680" y="3182112"/>
            <a:ext cx="6035040" cy="1353312"/>
          </a:xfrm>
          <a:prstGeom prst="roundRect">
            <a:avLst>
              <a:gd name="adj" fmla="val 8108"/>
            </a:avLst>
          </a:prstGeom>
          <a:solidFill>
            <a:srgbClr val="1B2440"/>
          </a:solidFill>
          <a:ln w="10160">
            <a:solidFill>
              <a:srgbClr val="303A54"/>
            </a:solidFill>
            <a:prstDash val="solid"/>
          </a:ln>
        </p:spPr>
      </p:sp>
      <p:pic>
        <p:nvPicPr>
          <p:cNvPr id="32" name="Image 0" descr="/Users/utkarshpathak3107/Desktop/Stockroom/evidence/hpa-scaling-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3641" y="3291840"/>
            <a:ext cx="5709118" cy="1133856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5440680" y="4690872"/>
            <a:ext cx="6035040" cy="1143000"/>
          </a:xfrm>
          <a:prstGeom prst="roundRect">
            <a:avLst>
              <a:gd name="adj" fmla="val 9600"/>
            </a:avLst>
          </a:prstGeom>
          <a:solidFill>
            <a:srgbClr val="1B2440"/>
          </a:solidFill>
          <a:ln w="10160">
            <a:solidFill>
              <a:srgbClr val="303A54"/>
            </a:solidFill>
            <a:prstDash val="solid"/>
          </a:ln>
        </p:spPr>
      </p:sp>
      <p:pic>
        <p:nvPicPr>
          <p:cNvPr id="34" name="Image 1" descr="/Users/utkarshpathak3107/Desktop/Stockroom/evidence/hpa-scaled-d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3116" y="4800600"/>
            <a:ext cx="4650169" cy="92354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8B3C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1089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OBSERVABILITY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turn runtime behavior into something operators can inspect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19786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scrapes the API; Grafana displays request rate and route latency.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755648"/>
            <a:ext cx="7315200" cy="4343400"/>
          </a:xfrm>
          <a:prstGeom prst="roundRect">
            <a:avLst>
              <a:gd name="adj" fmla="val 2526"/>
            </a:avLst>
          </a:prstGeom>
          <a:solidFill>
            <a:srgbClr val="1B2440"/>
          </a:solidFill>
          <a:ln w="10160">
            <a:solidFill>
              <a:srgbClr val="303A54"/>
            </a:solidFill>
            <a:prstDash val="solid"/>
          </a:ln>
        </p:spPr>
      </p:sp>
      <p:pic>
        <p:nvPicPr>
          <p:cNvPr id="6" name="Image 0" descr="/Users/utkarshpathak3107/Desktop/Stockroom/evidence/grafana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619" y="1865376"/>
            <a:ext cx="6896698" cy="41239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1755648"/>
            <a:ext cx="3246120" cy="4343400"/>
          </a:xfrm>
          <a:prstGeom prst="roundRect">
            <a:avLst>
              <a:gd name="adj" fmla="val 3380"/>
            </a:avLst>
          </a:prstGeom>
          <a:solidFill>
            <a:srgbClr val="141B2D"/>
          </a:solidFill>
          <a:ln w="10160">
            <a:solidFill>
              <a:srgbClr val="303A5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85632" y="20574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8485632" y="2697480"/>
            <a:ext cx="100584" cy="100584"/>
          </a:xfrm>
          <a:prstGeom prst="ellipse">
            <a:avLst/>
          </a:prstGeom>
          <a:solidFill>
            <a:srgbClr val="55D6BE"/>
          </a:solidFill>
          <a:ln w="12700">
            <a:solidFill>
              <a:srgbClr val="55D6B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0" y="258775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requests per second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485632" y="3264408"/>
            <a:ext cx="100584" cy="100584"/>
          </a:xfrm>
          <a:prstGeom prst="ellipse">
            <a:avLst/>
          </a:prstGeom>
          <a:solidFill>
            <a:srgbClr val="55D6BE"/>
          </a:solidFill>
          <a:ln w="12700">
            <a:solidFill>
              <a:srgbClr val="55D6B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0" y="315468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latency by route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485632" y="3831336"/>
            <a:ext cx="100584" cy="100584"/>
          </a:xfrm>
          <a:prstGeom prst="ellipse">
            <a:avLst/>
          </a:prstGeom>
          <a:solidFill>
            <a:srgbClr val="55D6BE"/>
          </a:solidFill>
          <a:ln w="12700">
            <a:solidFill>
              <a:srgbClr val="55D6B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0" y="3721608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by route and status</a:t>
            </a:r>
            <a:endParaRPr lang="en-US" sz="1200" dirty="0"/>
          </a:p>
        </p:txBody>
      </p:sp>
      <p:pic>
        <p:nvPicPr>
          <p:cNvPr id="15" name="Image 1" descr="/Users/utkarshpathak3107/Desktop/Stockroom/evidence/prometheus-targe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632" y="4490497"/>
            <a:ext cx="2697480" cy="115055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503920" y="573328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target health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8B3C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1089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REQUIREMENTS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covers the full application-to-operations path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19786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Final-project minimum requirements are mapped to working code and repository evidence.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94944" y="1828800"/>
            <a:ext cx="3401568" cy="2231136"/>
          </a:xfrm>
          <a:prstGeom prst="roundRect">
            <a:avLst>
              <a:gd name="adj" fmla="val 4918"/>
            </a:avLst>
          </a:prstGeom>
          <a:solidFill>
            <a:srgbClr val="141B2D"/>
          </a:solidFill>
          <a:ln w="10160">
            <a:solidFill>
              <a:srgbClr val="303A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0574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14400" y="2642616"/>
            <a:ext cx="100584" cy="100584"/>
          </a:xfrm>
          <a:prstGeom prst="ellipse">
            <a:avLst/>
          </a:prstGeom>
          <a:solidFill>
            <a:srgbClr val="7367F0"/>
          </a:solidFill>
          <a:ln w="12700">
            <a:solidFill>
              <a:srgbClr val="7367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532888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responsive frontend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3081528"/>
            <a:ext cx="100584" cy="100584"/>
          </a:xfrm>
          <a:prstGeom prst="ellipse">
            <a:avLst/>
          </a:prstGeom>
          <a:solidFill>
            <a:srgbClr val="7367F0"/>
          </a:solidFill>
          <a:ln w="12700">
            <a:solidFill>
              <a:srgbClr val="7367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971800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REST API + PostgreSQL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3520440"/>
            <a:ext cx="100584" cy="100584"/>
          </a:xfrm>
          <a:prstGeom prst="ellipse">
            <a:avLst/>
          </a:prstGeom>
          <a:solidFill>
            <a:srgbClr val="7367F0"/>
          </a:solidFill>
          <a:ln w="12700">
            <a:solidFill>
              <a:srgbClr val="7367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3410712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CRUD + CSV export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62272" y="1828800"/>
            <a:ext cx="3401568" cy="2231136"/>
          </a:xfrm>
          <a:prstGeom prst="roundRect">
            <a:avLst>
              <a:gd name="adj" fmla="val 4918"/>
            </a:avLst>
          </a:prstGeom>
          <a:solidFill>
            <a:srgbClr val="141B2D"/>
          </a:solidFill>
          <a:ln w="10160">
            <a:solidFill>
              <a:srgbClr val="303A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0574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81728" y="2642616"/>
            <a:ext cx="100584" cy="100584"/>
          </a:xfrm>
          <a:prstGeom prst="ellipse">
            <a:avLst/>
          </a:prstGeom>
          <a:solidFill>
            <a:srgbClr val="7367F0"/>
          </a:solidFill>
          <a:ln w="12700">
            <a:solidFill>
              <a:srgbClr val="7367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82896" y="2532888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+ GitHub Actions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81728" y="3081528"/>
            <a:ext cx="100584" cy="100584"/>
          </a:xfrm>
          <a:prstGeom prst="ellipse">
            <a:avLst/>
          </a:prstGeom>
          <a:solidFill>
            <a:srgbClr val="7367F0"/>
          </a:solidFill>
          <a:ln w="12700">
            <a:solidFill>
              <a:srgbClr val="7367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82896" y="2971800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 + Docker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81728" y="3520440"/>
            <a:ext cx="100584" cy="100584"/>
          </a:xfrm>
          <a:prstGeom prst="ellipse">
            <a:avLst/>
          </a:prstGeom>
          <a:solidFill>
            <a:srgbClr val="7367F0"/>
          </a:solidFill>
          <a:ln w="12700">
            <a:solidFill>
              <a:srgbClr val="7367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82896" y="3410712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Trivy + GHCR SHA tags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0" y="1828800"/>
            <a:ext cx="3401568" cy="2231136"/>
          </a:xfrm>
          <a:prstGeom prst="roundRect">
            <a:avLst>
              <a:gd name="adj" fmla="val 4918"/>
            </a:avLst>
          </a:prstGeom>
          <a:solidFill>
            <a:srgbClr val="141B2D"/>
          </a:solidFill>
          <a:ln w="10160">
            <a:solidFill>
              <a:srgbClr val="303A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30768" y="20574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449056" y="2642616"/>
            <a:ext cx="100584" cy="100584"/>
          </a:xfrm>
          <a:prstGeom prst="ellipse">
            <a:avLst/>
          </a:prstGeom>
          <a:solidFill>
            <a:srgbClr val="55D6BE"/>
          </a:solidFill>
          <a:ln w="12700">
            <a:solidFill>
              <a:srgbClr val="55D6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50224" y="2532888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 + Helm + Ingress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449056" y="3081528"/>
            <a:ext cx="100584" cy="100584"/>
          </a:xfrm>
          <a:prstGeom prst="ellipse">
            <a:avLst/>
          </a:prstGeom>
          <a:solidFill>
            <a:srgbClr val="55D6BE"/>
          </a:solidFill>
          <a:ln w="12700">
            <a:solidFill>
              <a:srgbClr val="55D6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50224" y="2971800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HPA + metrics-server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449056" y="3520440"/>
            <a:ext cx="100584" cy="100584"/>
          </a:xfrm>
          <a:prstGeom prst="ellipse">
            <a:avLst/>
          </a:prstGeom>
          <a:solidFill>
            <a:srgbClr val="55D6BE"/>
          </a:solidFill>
          <a:ln w="12700">
            <a:solidFill>
              <a:srgbClr val="55D6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50224" y="3410712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+ Grafana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13232" y="4434840"/>
            <a:ext cx="10771632" cy="1133856"/>
          </a:xfrm>
          <a:prstGeom prst="roundRect">
            <a:avLst>
              <a:gd name="adj" fmla="val 9677"/>
            </a:avLst>
          </a:prstGeom>
          <a:solidFill>
            <a:srgbClr val="24204B"/>
          </a:solidFill>
          <a:ln w="10160">
            <a:solidFill>
              <a:srgbClr val="7367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0976" y="46451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NOTE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331720" y="4572000"/>
            <a:ext cx="8668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is included as an AWS VPC/EKS reference, but no AWS plan or cloud resources were created.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49808" y="5870448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Reproduction steps, deployment commands, screenshots, and the local walkthrough are in the repository.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8B3C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713232"/>
            <a:ext cx="1234440" cy="292608"/>
          </a:xfrm>
          <a:prstGeom prst="roundRect">
            <a:avLst>
              <a:gd name="adj" fmla="val 37500"/>
            </a:avLst>
          </a:prstGeom>
          <a:solidFill>
            <a:srgbClr val="1B2440"/>
          </a:solidFill>
          <a:ln w="10160">
            <a:solidFill>
              <a:srgbClr val="1B24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722376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STOCKROOM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49808" y="1353312"/>
            <a:ext cx="5623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product record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observable service.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3081528"/>
            <a:ext cx="4937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practical inventory app backed by a tested API and a reproducible, locally operated delivery stack.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4334256"/>
            <a:ext cx="4617720" cy="841248"/>
          </a:xfrm>
          <a:prstGeom prst="roundRect">
            <a:avLst>
              <a:gd name="adj" fmla="val 13043"/>
            </a:avLst>
          </a:prstGeom>
          <a:solidFill>
            <a:srgbClr val="141B2D"/>
          </a:solidFill>
          <a:ln w="10160">
            <a:solidFill>
              <a:srgbClr val="303A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45079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A8B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repository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4754880"/>
            <a:ext cx="4096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github.com/31UTKARSH07-ALPHA/Stockroom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89320" y="749808"/>
            <a:ext cx="5440680" cy="5321808"/>
          </a:xfrm>
          <a:prstGeom prst="roundRect">
            <a:avLst>
              <a:gd name="adj" fmla="val 2062"/>
            </a:avLst>
          </a:prstGeom>
          <a:solidFill>
            <a:srgbClr val="1B2440"/>
          </a:solidFill>
          <a:ln w="10160">
            <a:solidFill>
              <a:srgbClr val="303A54"/>
            </a:solidFill>
            <a:prstDash val="solid"/>
          </a:ln>
        </p:spPr>
      </p:sp>
      <p:pic>
        <p:nvPicPr>
          <p:cNvPr id="10" name="Image 0" descr="/Users/utkarshpathak3107/Desktop/Stockroom/evidence/export-cs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048" y="1849673"/>
            <a:ext cx="5221224" cy="312207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86384" y="57241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55D6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8B3C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Stockroom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Stockroom | Project Showcase</dc:title>
  <dc:subject>Full-stack inventory application and DevOps pipeline</dc:subject>
  <dc:creator>Stockroom project team</dc:creator>
  <cp:lastModifiedBy>Stockroom project team</cp:lastModifiedBy>
  <cp:revision>1</cp:revision>
  <dcterms:created xsi:type="dcterms:W3CDTF">2026-10-16T16:20:55Z</dcterms:created>
  <dcterms:modified xsi:type="dcterms:W3CDTF">2026-10-16T16:20:55Z</dcterms:modified>
</cp:coreProperties>
</file>